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6EEB-43D1-64B4-5110-F39D2053D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8E512-3AD0-B973-A943-0BF39F7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5A0D9-8EE5-B2E7-76B2-B117E3CD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3361F-0649-E5BA-173B-4635DFF0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FD135-0A31-2431-9E4F-D987AF06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2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B8A3-5983-6152-D3AA-A61548B7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785A-1161-C8C2-ECCB-23CF8C1EA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A2B61-221E-771B-0376-059969F5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3DCF7-C443-CFEC-B1E4-F4E0D3B0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D4216-2822-D895-1F33-D4C4228A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340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9C4A-9733-31C3-E66C-68FB92E7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4903A-6902-4297-DC24-F9574116E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F16F-CF14-624F-39F8-044105046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02B8-1D04-9B3D-D921-714B13F5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59B33-826B-C495-DC8C-6724E119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94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7D9C-C98A-073F-E399-4AB4F49D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394B3-FFF3-DEC5-3CFE-88A29B44E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8A649-C746-2175-8088-E975F26FF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FDD18-F2F3-FC8A-5228-A7AF467F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522BB-39EB-227A-92E2-ECF0CA00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E3363-863B-1DDF-AB5F-995D105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9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0F0E-D980-0C85-3FA4-700DB9205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1451B-9D3F-FC32-CBEC-403F25B71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49986-C57E-5597-A973-A3A9FDAAC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FB2BC-998F-ADE6-2403-5D330877D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E3488-1455-95F6-17C2-7D0D6AA71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B0945-7A0B-E2F8-30CA-4F845F63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14AC44-6293-5514-B429-B2BD4308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354923-9C0A-3C73-9B5A-8BA6D790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37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A722-873E-CEBF-18A0-0EA0C672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7B3C94-F37E-6165-7F50-47BED934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313F8-8E65-BAE0-BBF2-040234FE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B3667-4C2A-AA26-C1C9-A2B8E3B9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04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06FEE-D5D1-D6DC-5980-538A87E5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E7BBA-06D6-8572-2403-05C24C4C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B9386-2F03-8E57-00AA-5E84D6E1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85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C785-BDBC-CCB3-022D-80AD9A52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5AC5-1511-43B5-FD9B-31BCCD390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FE4F0-5AFB-900E-E28C-F3F392809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0110D-903E-4503-1D21-E07B4D7E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A5AA3-383E-308B-C6A7-DD5A66F2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6BC4D-8501-0DED-128C-A1636F8F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42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2EE9-1DA7-EEC7-3F57-DCF5E775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18C45-0642-82C6-1CB9-377CCDE56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70C2A-D9CB-9B96-758E-5AAB9ACDF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FE3D0-F37D-4D82-B11E-26FF22FD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174B1-48D2-7E00-89A8-69DA6250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99A4-BA54-3553-CBE5-80A63383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9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5386-CDE2-D275-0B89-AFB534A3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2AB65-E2EC-65D7-DB7F-61A9CA64F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4CE34-37A4-D344-B063-5F702724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CAE28-E17E-C2EF-E457-576203BB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9E39-8041-B192-4345-1648D1C8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83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936F5-8EC2-5359-06B6-EEDBE1224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D0EDA-F3A0-25E4-B83C-CF1D23067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1D728-0F13-E18C-522C-2EE67B1D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AA27D-7821-7ABA-E845-24986EB15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F2FD-C94B-BAA9-2B80-DD4C9DB0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96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2F060-D2B7-0719-7650-8C7CB7FD2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0127-5D26-EBAA-70FB-AD9B5BD04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E238C-AE46-390C-BC04-05F0A1B8F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915C6-A41F-49B9-BF0F-534F3021E085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6ECA-9B0F-0944-79DF-6FE48469E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3184-1249-F0DC-518B-B22D5ABF4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BBF53-2EF5-4863-9AB1-A6983BB5D8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23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53A2B97F-D728-3D4C-90CD-48B996B06BA2}"/>
              </a:ext>
            </a:extLst>
          </p:cNvPr>
          <p:cNvGrpSpPr/>
          <p:nvPr/>
        </p:nvGrpSpPr>
        <p:grpSpPr>
          <a:xfrm>
            <a:off x="192026" y="215571"/>
            <a:ext cx="9648660" cy="4247572"/>
            <a:chOff x="192026" y="215571"/>
            <a:chExt cx="9648660" cy="424757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5B532F-924A-18FF-CA25-223BBF3A20B4}"/>
                </a:ext>
              </a:extLst>
            </p:cNvPr>
            <p:cNvSpPr txBox="1"/>
            <p:nvPr/>
          </p:nvSpPr>
          <p:spPr>
            <a:xfrm>
              <a:off x="6846854" y="3582045"/>
              <a:ext cx="293252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400" b="1" dirty="0" err="1"/>
                <a:t>imcanalysis</a:t>
              </a:r>
              <a:r>
                <a:rPr lang="en-GB" sz="1400" b="1" dirty="0"/>
                <a:t> GitHub repository</a:t>
              </a:r>
            </a:p>
            <a:p>
              <a:pPr algn="r"/>
              <a:r>
                <a:rPr lang="en-GB" sz="1400" dirty="0"/>
                <a:t>(https://github.com/dr-michael-haley/imcanalysis)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A6A8BC1-C0EC-FBE7-9130-CA5B6475C222}"/>
                </a:ext>
              </a:extLst>
            </p:cNvPr>
            <p:cNvSpPr/>
            <p:nvPr/>
          </p:nvSpPr>
          <p:spPr>
            <a:xfrm>
              <a:off x="192026" y="215571"/>
              <a:ext cx="9648660" cy="424757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050E7BC-5542-8F47-F0CF-488DA1E1138B}"/>
                </a:ext>
              </a:extLst>
            </p:cNvPr>
            <p:cNvGrpSpPr/>
            <p:nvPr/>
          </p:nvGrpSpPr>
          <p:grpSpPr>
            <a:xfrm>
              <a:off x="327596" y="309171"/>
              <a:ext cx="3220598" cy="2462767"/>
              <a:chOff x="230931" y="536465"/>
              <a:chExt cx="3220598" cy="246276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FFF55DA-7AE1-5B19-ECA9-BC7FC732B002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2462767"/>
                <a:chOff x="230931" y="536465"/>
                <a:chExt cx="2932522" cy="2462767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713A7F8-D7B7-A9CC-C1FF-F2567C7F7D3E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8848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rgbClr val="00B050"/>
                      </a:solidFill>
                    </a:rPr>
                    <a:t>/</a:t>
                  </a:r>
                  <a:r>
                    <a:rPr lang="en-GB" sz="1200" b="1" dirty="0" err="1">
                      <a:solidFill>
                        <a:srgbClr val="00B050"/>
                      </a:solidFill>
                    </a:rPr>
                    <a:t>SpatialBiologyToolkit</a:t>
                  </a:r>
                  <a:r>
                    <a:rPr lang="en-GB" sz="1200" b="1" dirty="0">
                      <a:solidFill>
                        <a:srgbClr val="00B050"/>
                      </a:solidFill>
                    </a:rPr>
                    <a:t> </a:t>
                  </a:r>
                  <a:r>
                    <a:rPr lang="en-GB" sz="1200" i="1" dirty="0">
                      <a:solidFill>
                        <a:srgbClr val="00B050"/>
                      </a:solidFill>
                    </a:rPr>
                    <a:t>(Python package)</a:t>
                  </a:r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BE70072-FBDD-F780-4CB2-D28E609709EC}"/>
                    </a:ext>
                  </a:extLst>
                </p:cNvPr>
                <p:cNvSpPr/>
                <p:nvPr/>
              </p:nvSpPr>
              <p:spPr>
                <a:xfrm>
                  <a:off x="278561" y="813465"/>
                  <a:ext cx="2884892" cy="2185767"/>
                </a:xfrm>
                <a:prstGeom prst="rect">
                  <a:avLst/>
                </a:prstGeom>
                <a:no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FAAC14-D774-D5BD-8F6F-F966722A1544}"/>
                  </a:ext>
                </a:extLst>
              </p:cNvPr>
              <p:cNvSpPr txBox="1"/>
              <p:nvPr/>
            </p:nvSpPr>
            <p:spPr>
              <a:xfrm>
                <a:off x="406577" y="949922"/>
                <a:ext cx="30449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rgbClr val="00B050"/>
                    </a:solidFill>
                  </a:rPr>
                  <a:t>Code for preprocessing, denoising, clustering, spatial stats, plotting, etc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9B9EF3D-9D3B-0163-21EB-53E132B44766}"/>
                </a:ext>
              </a:extLst>
            </p:cNvPr>
            <p:cNvGrpSpPr/>
            <p:nvPr/>
          </p:nvGrpSpPr>
          <p:grpSpPr>
            <a:xfrm>
              <a:off x="539198" y="1319080"/>
              <a:ext cx="2461687" cy="1218367"/>
              <a:chOff x="406577" y="1702750"/>
              <a:chExt cx="2461687" cy="121836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5EAC3FD-78ED-C1BC-FEC0-4FE09C6C098A}"/>
                  </a:ext>
                </a:extLst>
              </p:cNvPr>
              <p:cNvSpPr/>
              <p:nvPr/>
            </p:nvSpPr>
            <p:spPr>
              <a:xfrm>
                <a:off x="441153" y="1966384"/>
                <a:ext cx="2427111" cy="954733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D3DE18-3EFD-B8BB-F48D-B0E4D0DD5192}"/>
                  </a:ext>
                </a:extLst>
              </p:cNvPr>
              <p:cNvSpPr txBox="1"/>
              <p:nvPr/>
            </p:nvSpPr>
            <p:spPr>
              <a:xfrm>
                <a:off x="406577" y="1702750"/>
                <a:ext cx="193360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b="1" dirty="0">
                    <a:solidFill>
                      <a:schemeClr val="accent3"/>
                    </a:solidFill>
                  </a:rPr>
                  <a:t>…/scripts </a:t>
                </a:r>
                <a:r>
                  <a:rPr lang="en-GB" sz="1200" i="1" dirty="0">
                    <a:solidFill>
                      <a:schemeClr val="accent3"/>
                    </a:solidFill>
                  </a:rPr>
                  <a:t>(Python scripts)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12F6C6-F600-7896-5A49-57A23B9F54DE}"/>
                  </a:ext>
                </a:extLst>
              </p:cNvPr>
              <p:cNvSpPr txBox="1"/>
              <p:nvPr/>
            </p:nvSpPr>
            <p:spPr>
              <a:xfrm>
                <a:off x="441153" y="2021353"/>
                <a:ext cx="23925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chemeClr val="accent3"/>
                    </a:solidFill>
                  </a:rPr>
                  <a:t>Ordered scripts that run analyses on the command line in defined and logical stages using code in the Python package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C45CBD-07D0-E1CD-61D5-DCE073B7A764}"/>
                </a:ext>
              </a:extLst>
            </p:cNvPr>
            <p:cNvGrpSpPr/>
            <p:nvPr/>
          </p:nvGrpSpPr>
          <p:grpSpPr>
            <a:xfrm>
              <a:off x="313093" y="2908395"/>
              <a:ext cx="2932522" cy="1281703"/>
              <a:chOff x="230931" y="536465"/>
              <a:chExt cx="2932522" cy="128170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E0730EA-7D23-4E8E-D666-0E5C78B920CD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1281703"/>
                <a:chOff x="230931" y="536465"/>
                <a:chExt cx="2932522" cy="1281703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B1A9E2B-52CE-7C42-9BE7-5B2C1BC37A28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13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/</a:t>
                  </a:r>
                  <a:r>
                    <a:rPr lang="en-GB" sz="1200" b="1" dirty="0" err="1">
                      <a:solidFill>
                        <a:schemeClr val="accent2">
                          <a:lumMod val="75000"/>
                        </a:schemeClr>
                      </a:solidFill>
                    </a:rPr>
                    <a:t>Bash_scripts</a:t>
                  </a:r>
                  <a:r>
                    <a:rPr lang="en-GB" sz="1200" b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 </a:t>
                  </a:r>
                  <a:r>
                    <a:rPr lang="en-GB" sz="1200" i="1" dirty="0">
                      <a:solidFill>
                        <a:schemeClr val="accent2">
                          <a:lumMod val="75000"/>
                        </a:schemeClr>
                      </a:solidFill>
                    </a:rPr>
                    <a:t>(BASH scripts)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DE32F5A2-B656-99DC-19BC-0D7748A78D78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1004702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280ADE-9C53-3165-B9DC-8E147C906E82}"/>
                  </a:ext>
                </a:extLst>
              </p:cNvPr>
              <p:cNvSpPr txBox="1"/>
              <p:nvPr/>
            </p:nvSpPr>
            <p:spPr>
              <a:xfrm>
                <a:off x="336837" y="890997"/>
                <a:ext cx="27789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chemeClr val="accent2">
                        <a:lumMod val="75000"/>
                      </a:schemeClr>
                    </a:solidFill>
                  </a:rPr>
                  <a:t>Small helper commands (`pl`, `</a:t>
                </a:r>
                <a:r>
                  <a:rPr lang="en-GB" sz="1200" dirty="0" err="1">
                    <a:solidFill>
                      <a:schemeClr val="accent2">
                        <a:lumMod val="75000"/>
                      </a:schemeClr>
                    </a:solidFill>
                  </a:rPr>
                  <a:t>pll</a:t>
                </a:r>
                <a:r>
                  <a:rPr lang="en-GB" sz="1200" dirty="0">
                    <a:solidFill>
                      <a:schemeClr val="accent2">
                        <a:lumMod val="75000"/>
                      </a:schemeClr>
                    </a:solidFill>
                  </a:rPr>
                  <a:t>`, `pls`, `</a:t>
                </a:r>
                <a:r>
                  <a:rPr lang="en-GB" sz="1200" dirty="0" err="1">
                    <a:solidFill>
                      <a:schemeClr val="accent2">
                        <a:lumMod val="75000"/>
                      </a:schemeClr>
                    </a:solidFill>
                  </a:rPr>
                  <a:t>zipqc</a:t>
                </a:r>
                <a:r>
                  <a:rPr lang="en-GB" sz="1200" dirty="0">
                    <a:solidFill>
                      <a:schemeClr val="accent2">
                        <a:lumMod val="75000"/>
                      </a:schemeClr>
                    </a:solidFill>
                  </a:rPr>
                  <a:t>`, `</a:t>
                </a:r>
                <a:r>
                  <a:rPr lang="en-GB" sz="1200" dirty="0" err="1">
                    <a:solidFill>
                      <a:schemeClr val="accent2">
                        <a:lumMod val="75000"/>
                      </a:schemeClr>
                    </a:solidFill>
                  </a:rPr>
                  <a:t>cds`</a:t>
                </a:r>
                <a:r>
                  <a:rPr lang="en-GB" sz="1200" dirty="0">
                    <a:solidFill>
                      <a:schemeClr val="accent2">
                        <a:lumMod val="75000"/>
                      </a:schemeClr>
                    </a:solidFill>
                  </a:rPr>
                  <a:t>) that make it easy to submit or inspect the pipeline on HPC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956CA2F-AC33-9090-95FB-97DDEBBAD50E}"/>
                </a:ext>
              </a:extLst>
            </p:cNvPr>
            <p:cNvGrpSpPr/>
            <p:nvPr/>
          </p:nvGrpSpPr>
          <p:grpSpPr>
            <a:xfrm>
              <a:off x="6645968" y="309171"/>
              <a:ext cx="2932522" cy="908530"/>
              <a:chOff x="230931" y="536465"/>
              <a:chExt cx="2932522" cy="908530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3893425-9DF9-AE89-0711-4A8C00FC0EFF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908530"/>
                <a:chOff x="230931" y="536465"/>
                <a:chExt cx="2932522" cy="908530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4F4E618-7293-C354-10A6-DE8958A42B8C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38039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rgbClr val="0070C0"/>
                      </a:solidFill>
                    </a:rPr>
                    <a:t>/</a:t>
                  </a:r>
                  <a:r>
                    <a:rPr lang="en-GB" sz="1200" b="1" dirty="0" err="1">
                      <a:solidFill>
                        <a:srgbClr val="0070C0"/>
                      </a:solidFill>
                    </a:rPr>
                    <a:t>SLURM_scripts</a:t>
                  </a:r>
                  <a:r>
                    <a:rPr lang="en-GB" sz="1200" b="1" dirty="0">
                      <a:solidFill>
                        <a:srgbClr val="0070C0"/>
                      </a:solidFill>
                    </a:rPr>
                    <a:t> </a:t>
                  </a:r>
                  <a:r>
                    <a:rPr lang="en-GB" sz="1200" i="1" dirty="0">
                      <a:solidFill>
                        <a:srgbClr val="0070C0"/>
                      </a:solidFill>
                    </a:rPr>
                    <a:t>(SLURM scripts)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9B2DD5D0-E871-C22B-9872-AA6CCE23B667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631529"/>
                </a:xfrm>
                <a:prstGeom prst="rect">
                  <a:avLst/>
                </a:prstGeom>
                <a:noFill/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0070C0"/>
                    </a:solidFill>
                  </a:endParaRP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104E7F-B16D-EC47-1D74-637DF03770EF}"/>
                  </a:ext>
                </a:extLst>
              </p:cNvPr>
              <p:cNvSpPr txBox="1"/>
              <p:nvPr/>
            </p:nvSpPr>
            <p:spPr>
              <a:xfrm>
                <a:off x="336837" y="890997"/>
                <a:ext cx="27789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rgbClr val="0070C0"/>
                    </a:solidFill>
                  </a:rPr>
                  <a:t>Job templates for submitting the stages of the pipeline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82D9BB-5E79-DAEA-D42C-D9D4C1441FF1}"/>
                </a:ext>
              </a:extLst>
            </p:cNvPr>
            <p:cNvGrpSpPr/>
            <p:nvPr/>
          </p:nvGrpSpPr>
          <p:grpSpPr>
            <a:xfrm>
              <a:off x="6645968" y="1394495"/>
              <a:ext cx="2932522" cy="993870"/>
              <a:chOff x="230931" y="536465"/>
              <a:chExt cx="2932522" cy="99387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EB60B0AB-EBEF-72FA-3B7F-990BE1C3ABEC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993870"/>
                <a:chOff x="230931" y="536465"/>
                <a:chExt cx="2932522" cy="993870"/>
              </a:xfrm>
            </p:grpSpPr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FB4E3D6-762E-33B0-B17B-1B7435178828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192616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rgbClr val="7030A0"/>
                      </a:solidFill>
                    </a:rPr>
                    <a:t>/install </a:t>
                  </a:r>
                  <a:r>
                    <a:rPr lang="en-GB" sz="1200" i="1" dirty="0">
                      <a:solidFill>
                        <a:srgbClr val="7030A0"/>
                      </a:solidFill>
                    </a:rPr>
                    <a:t>(</a:t>
                  </a:r>
                  <a:r>
                    <a:rPr lang="en-GB" sz="1200" i="1" dirty="0" err="1">
                      <a:solidFill>
                        <a:srgbClr val="7030A0"/>
                      </a:solidFill>
                    </a:rPr>
                    <a:t>makefile</a:t>
                  </a:r>
                  <a:r>
                    <a:rPr lang="en-GB" sz="1200" i="1" dirty="0">
                      <a:solidFill>
                        <a:srgbClr val="7030A0"/>
                      </a:solidFill>
                    </a:rPr>
                    <a:t> scripts)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5DAC44E-ABB3-0FB5-A1F6-DEB779B13162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716869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7030A0"/>
                    </a:solidFill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62C889-918D-E6E1-B210-E0FFAE4C9465}"/>
                  </a:ext>
                </a:extLst>
              </p:cNvPr>
              <p:cNvSpPr txBox="1"/>
              <p:nvPr/>
            </p:nvSpPr>
            <p:spPr>
              <a:xfrm>
                <a:off x="301171" y="844830"/>
                <a:ext cx="27789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rgbClr val="7030A0"/>
                    </a:solidFill>
                  </a:rPr>
                  <a:t>Scripts that allow easy installation / removal of the pipeline in a HPC environment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623283-F16C-8653-ECD4-9D29C312AB15}"/>
                </a:ext>
              </a:extLst>
            </p:cNvPr>
            <p:cNvGrpSpPr/>
            <p:nvPr/>
          </p:nvGrpSpPr>
          <p:grpSpPr>
            <a:xfrm>
              <a:off x="3495625" y="310869"/>
              <a:ext cx="2932522" cy="1241638"/>
              <a:chOff x="230931" y="536465"/>
              <a:chExt cx="2932522" cy="124163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C2886105-9363-A536-9D3E-5291D817A534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1241638"/>
                <a:chOff x="230931" y="536465"/>
                <a:chExt cx="2932522" cy="1241638"/>
              </a:xfrm>
            </p:grpSpPr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C749095-274C-D630-6172-3246C92ECBC8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76075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rgbClr val="C00000"/>
                      </a:solidFill>
                    </a:rPr>
                    <a:t>/</a:t>
                  </a:r>
                  <a:r>
                    <a:rPr lang="en-GB" sz="1200" b="1" dirty="0" err="1">
                      <a:solidFill>
                        <a:srgbClr val="C00000"/>
                      </a:solidFill>
                    </a:rPr>
                    <a:t>HPC_env_files</a:t>
                  </a:r>
                  <a:r>
                    <a:rPr lang="en-GB" sz="1200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GB" sz="1200" i="1" dirty="0">
                      <a:solidFill>
                        <a:srgbClr val="C00000"/>
                      </a:solidFill>
                    </a:rPr>
                    <a:t>(Conda environments)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522F953-7ABF-C2FB-A1DA-77EBFD86CD27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964637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958F4FA-3635-2096-77AB-978B2754B6A5}"/>
                  </a:ext>
                </a:extLst>
              </p:cNvPr>
              <p:cNvSpPr txBox="1"/>
              <p:nvPr/>
            </p:nvSpPr>
            <p:spPr>
              <a:xfrm>
                <a:off x="336837" y="890997"/>
                <a:ext cx="27789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rgbClr val="C00000"/>
                    </a:solidFill>
                  </a:rPr>
                  <a:t>Environment specifications used to create the </a:t>
                </a:r>
                <a:r>
                  <a:rPr lang="en-GB" sz="1200" dirty="0" err="1">
                    <a:solidFill>
                      <a:srgbClr val="C00000"/>
                    </a:solidFill>
                  </a:rPr>
                  <a:t>conda</a:t>
                </a:r>
                <a:r>
                  <a:rPr lang="en-GB" sz="1200" dirty="0">
                    <a:solidFill>
                      <a:srgbClr val="C00000"/>
                    </a:solidFill>
                  </a:rPr>
                  <a:t> environments for the pipeline. Automatically installed using </a:t>
                </a:r>
                <a:r>
                  <a:rPr lang="en-GB" sz="1200" i="1" dirty="0">
                    <a:solidFill>
                      <a:srgbClr val="C00000"/>
                    </a:solidFill>
                  </a:rPr>
                  <a:t>make </a:t>
                </a:r>
                <a:r>
                  <a:rPr lang="en-GB" sz="1200" i="1" dirty="0" err="1">
                    <a:solidFill>
                      <a:srgbClr val="C00000"/>
                    </a:solidFill>
                  </a:rPr>
                  <a:t>envs</a:t>
                </a:r>
                <a:endParaRPr lang="en-GB" sz="1200" i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F7B4824-79F7-30BA-64C9-C4521AB382AF}"/>
                </a:ext>
              </a:extLst>
            </p:cNvPr>
            <p:cNvGrpSpPr/>
            <p:nvPr/>
          </p:nvGrpSpPr>
          <p:grpSpPr>
            <a:xfrm>
              <a:off x="3495625" y="1730305"/>
              <a:ext cx="2932522" cy="908530"/>
              <a:chOff x="230931" y="536465"/>
              <a:chExt cx="2932522" cy="90853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34EAC719-DEF4-3301-68D6-E2121FD42C8C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908530"/>
                <a:chOff x="230931" y="536465"/>
                <a:chExt cx="2932522" cy="908530"/>
              </a:xfrm>
            </p:grpSpPr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C4218D9-EEBC-47D1-E229-7FC791B9DFD1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53319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rgbClr val="C00000"/>
                      </a:solidFill>
                    </a:rPr>
                    <a:t>/</a:t>
                  </a:r>
                  <a:r>
                    <a:rPr lang="en-GB" sz="1200" b="1" dirty="0" err="1">
                      <a:solidFill>
                        <a:srgbClr val="C00000"/>
                      </a:solidFill>
                    </a:rPr>
                    <a:t>Local_envs</a:t>
                  </a:r>
                  <a:r>
                    <a:rPr lang="en-GB" sz="1200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GB" sz="1200" i="1" dirty="0">
                      <a:solidFill>
                        <a:srgbClr val="C00000"/>
                      </a:solidFill>
                    </a:rPr>
                    <a:t>(Conda environment)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79DD3E51-5329-ED83-DD08-0153D7A4C51B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63152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C76F911-2FE7-C976-BDF4-096A04E307FA}"/>
                  </a:ext>
                </a:extLst>
              </p:cNvPr>
              <p:cNvSpPr txBox="1"/>
              <p:nvPr/>
            </p:nvSpPr>
            <p:spPr>
              <a:xfrm>
                <a:off x="336837" y="890997"/>
                <a:ext cx="27789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>
                    <a:solidFill>
                      <a:srgbClr val="C00000"/>
                    </a:solidFill>
                  </a:rPr>
                  <a:t>Minimal environment for local analysis using </a:t>
                </a:r>
                <a:r>
                  <a:rPr lang="en-GB" sz="1200" b="1" i="1" dirty="0" err="1">
                    <a:solidFill>
                      <a:srgbClr val="C00000"/>
                    </a:solidFill>
                  </a:rPr>
                  <a:t>SpatialBiologyToolkit</a:t>
                </a:r>
                <a:endParaRPr lang="en-GB" sz="1200" b="1" i="1" dirty="0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744565E-8380-DFEB-7315-BF44D17CAA61}"/>
                </a:ext>
              </a:extLst>
            </p:cNvPr>
            <p:cNvGrpSpPr/>
            <p:nvPr/>
          </p:nvGrpSpPr>
          <p:grpSpPr>
            <a:xfrm>
              <a:off x="3495625" y="2843520"/>
              <a:ext cx="2932522" cy="1056810"/>
              <a:chOff x="230931" y="536465"/>
              <a:chExt cx="2932522" cy="1056810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34F2F318-D1D4-3761-8A17-5AE48B3311DF}"/>
                  </a:ext>
                </a:extLst>
              </p:cNvPr>
              <p:cNvGrpSpPr/>
              <p:nvPr/>
            </p:nvGrpSpPr>
            <p:grpSpPr>
              <a:xfrm>
                <a:off x="230931" y="536465"/>
                <a:ext cx="2932522" cy="1056810"/>
                <a:chOff x="230931" y="536465"/>
                <a:chExt cx="2932522" cy="1056810"/>
              </a:xfrm>
            </p:grpSpPr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1B8BFE40-07FB-8E55-3FCD-221DF00DED7C}"/>
                    </a:ext>
                  </a:extLst>
                </p:cNvPr>
                <p:cNvSpPr txBox="1"/>
                <p:nvPr/>
              </p:nvSpPr>
              <p:spPr>
                <a:xfrm>
                  <a:off x="230931" y="536465"/>
                  <a:ext cx="220919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200" b="1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/Tutorials </a:t>
                  </a:r>
                  <a:r>
                    <a:rPr lang="en-GB" sz="1200" i="1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(</a:t>
                  </a:r>
                  <a:r>
                    <a:rPr lang="en-GB" sz="1200" i="1" dirty="0" err="1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Jupyter</a:t>
                  </a:r>
                  <a:r>
                    <a:rPr lang="en-GB" sz="1200" i="1" dirty="0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rPr>
                    <a:t> Notebooks)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78A745AF-EA6B-B00F-D27D-71A9C2A6BF8C}"/>
                    </a:ext>
                  </a:extLst>
                </p:cNvPr>
                <p:cNvSpPr/>
                <p:nvPr/>
              </p:nvSpPr>
              <p:spPr>
                <a:xfrm>
                  <a:off x="278561" y="813466"/>
                  <a:ext cx="2884892" cy="779809"/>
                </a:xfrm>
                <a:prstGeom prst="rect">
                  <a:avLst/>
                </a:prstGeom>
                <a:noFill/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508646F-7075-88BD-9DB8-5FB1F3AA3DA2}"/>
                  </a:ext>
                </a:extLst>
              </p:cNvPr>
              <p:cNvSpPr txBox="1"/>
              <p:nvPr/>
            </p:nvSpPr>
            <p:spPr>
              <a:xfrm>
                <a:off x="331514" y="863932"/>
                <a:ext cx="27789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 err="1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Jupyter</a:t>
                </a:r>
                <a:r>
                  <a:rPr lang="en-GB" sz="12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 notebooks for interactive, exploratory analysis when you want to go beyond the scripted pipeline.</a:t>
                </a:r>
                <a:endParaRPr lang="en-GB" sz="1200" b="1" i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8406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4843D6BB-556C-154B-A90C-E73131CB7249}"/>
              </a:ext>
            </a:extLst>
          </p:cNvPr>
          <p:cNvSpPr txBox="1"/>
          <p:nvPr/>
        </p:nvSpPr>
        <p:spPr>
          <a:xfrm>
            <a:off x="176491" y="144627"/>
            <a:ext cx="2850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Example of one-line command…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733826-023C-6A72-A1E2-3012C92650C1}"/>
              </a:ext>
            </a:extLst>
          </p:cNvPr>
          <p:cNvSpPr txBox="1"/>
          <p:nvPr/>
        </p:nvSpPr>
        <p:spPr>
          <a:xfrm>
            <a:off x="2127465" y="3287756"/>
            <a:ext cx="6222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dirty="0"/>
              <a:t>pl prep denoise   …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428BC5-A0A6-F440-34D5-D96870E5385B}"/>
              </a:ext>
            </a:extLst>
          </p:cNvPr>
          <p:cNvSpPr txBox="1"/>
          <p:nvPr/>
        </p:nvSpPr>
        <p:spPr>
          <a:xfrm>
            <a:off x="174300" y="1115422"/>
            <a:ext cx="18609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accent2">
                    <a:lumMod val="75000"/>
                  </a:schemeClr>
                </a:solidFill>
              </a:rPr>
              <a:t>pl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(pipeline) bash script automatically queues up the jobs in order they appear, using the appropriate resources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0FEF53-13D7-CC85-86B9-E204C95A6957}"/>
              </a:ext>
            </a:extLst>
          </p:cNvPr>
          <p:cNvSpPr txBox="1"/>
          <p:nvPr/>
        </p:nvSpPr>
        <p:spPr>
          <a:xfrm>
            <a:off x="2096140" y="2450823"/>
            <a:ext cx="2850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rgbClr val="00B0F0"/>
                </a:solidFill>
              </a:rPr>
              <a:t>prep</a:t>
            </a:r>
            <a:r>
              <a:rPr lang="en-GB" i="1" dirty="0">
                <a:solidFill>
                  <a:srgbClr val="00B0F0"/>
                </a:solidFill>
              </a:rPr>
              <a:t>=job_preprocess.txt</a:t>
            </a:r>
          </a:p>
          <a:p>
            <a:r>
              <a:rPr lang="en-GB" i="1" dirty="0">
                <a:solidFill>
                  <a:srgbClr val="00B0F0"/>
                </a:solidFill>
              </a:rPr>
              <a:t>SLURM script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B86CBF-784E-3DFE-9D1E-5E1DCCBBE669}"/>
              </a:ext>
            </a:extLst>
          </p:cNvPr>
          <p:cNvSpPr txBox="1"/>
          <p:nvPr/>
        </p:nvSpPr>
        <p:spPr>
          <a:xfrm>
            <a:off x="2096140" y="1571528"/>
            <a:ext cx="466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accent6">
                    <a:lumMod val="75000"/>
                  </a:schemeClr>
                </a:solidFill>
              </a:rPr>
              <a:t>Preprocessing script</a:t>
            </a:r>
          </a:p>
          <a:p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SpatialBiologyToolkit.scripts.preprocess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F36DA3-E20D-E42A-B0A2-904D7EE4CC37}"/>
              </a:ext>
            </a:extLst>
          </p:cNvPr>
          <p:cNvCxnSpPr>
            <a:cxnSpLocks/>
          </p:cNvCxnSpPr>
          <p:nvPr/>
        </p:nvCxnSpPr>
        <p:spPr>
          <a:xfrm flipV="1">
            <a:off x="2843649" y="3097154"/>
            <a:ext cx="0" cy="25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DCAEB9-8605-FD87-A2D9-861A2C62A7C3}"/>
              </a:ext>
            </a:extLst>
          </p:cNvPr>
          <p:cNvCxnSpPr>
            <a:cxnSpLocks/>
          </p:cNvCxnSpPr>
          <p:nvPr/>
        </p:nvCxnSpPr>
        <p:spPr>
          <a:xfrm flipV="1">
            <a:off x="2843649" y="2207213"/>
            <a:ext cx="0" cy="25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D8213A-7013-8A69-EA60-0107A69A0AE0}"/>
              </a:ext>
            </a:extLst>
          </p:cNvPr>
          <p:cNvCxnSpPr>
            <a:cxnSpLocks/>
          </p:cNvCxnSpPr>
          <p:nvPr/>
        </p:nvCxnSpPr>
        <p:spPr>
          <a:xfrm flipV="1">
            <a:off x="2843649" y="1388102"/>
            <a:ext cx="0" cy="25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0A30185-D7B0-39E7-3068-205F96B82AC2}"/>
              </a:ext>
            </a:extLst>
          </p:cNvPr>
          <p:cNvSpPr txBox="1"/>
          <p:nvPr/>
        </p:nvSpPr>
        <p:spPr>
          <a:xfrm>
            <a:off x="2127465" y="1010690"/>
            <a:ext cx="381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Extracts .TIFF files from MCD files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5A89BC-DEA8-1D0D-77F5-9F98AE99D31E}"/>
              </a:ext>
            </a:extLst>
          </p:cNvPr>
          <p:cNvSpPr txBox="1"/>
          <p:nvPr/>
        </p:nvSpPr>
        <p:spPr>
          <a:xfrm>
            <a:off x="7677294" y="2450823"/>
            <a:ext cx="2850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rgbClr val="00B0F0"/>
                </a:solidFill>
              </a:rPr>
              <a:t>denoise</a:t>
            </a:r>
            <a:r>
              <a:rPr lang="en-GB" i="1" dirty="0">
                <a:solidFill>
                  <a:srgbClr val="00B0F0"/>
                </a:solidFill>
              </a:rPr>
              <a:t>=job_denoising.txt</a:t>
            </a:r>
          </a:p>
          <a:p>
            <a:r>
              <a:rPr lang="en-GB" i="1" dirty="0">
                <a:solidFill>
                  <a:srgbClr val="00B0F0"/>
                </a:solidFill>
              </a:rPr>
              <a:t>SLURM script</a:t>
            </a:r>
            <a:endParaRPr lang="en-GB" dirty="0">
              <a:solidFill>
                <a:srgbClr val="00B0F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6E3433-BBB4-A4C0-B012-83CE959BA6FD}"/>
              </a:ext>
            </a:extLst>
          </p:cNvPr>
          <p:cNvSpPr txBox="1"/>
          <p:nvPr/>
        </p:nvSpPr>
        <p:spPr>
          <a:xfrm>
            <a:off x="7677294" y="1571528"/>
            <a:ext cx="4660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chemeClr val="accent6">
                    <a:lumMod val="75000"/>
                  </a:schemeClr>
                </a:solidFill>
              </a:rPr>
              <a:t>Preprocessing script</a:t>
            </a:r>
          </a:p>
          <a:p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SpatialBiologyToolkit.scripts.denoise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B9D2536-942D-5CF2-2DE4-81AFEF9D5F3D}"/>
              </a:ext>
            </a:extLst>
          </p:cNvPr>
          <p:cNvCxnSpPr>
            <a:cxnSpLocks/>
          </p:cNvCxnSpPr>
          <p:nvPr/>
        </p:nvCxnSpPr>
        <p:spPr>
          <a:xfrm flipV="1">
            <a:off x="5306887" y="828338"/>
            <a:ext cx="1045029" cy="10663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405B5EB-A8F3-B00E-2C44-BD68620FB26A}"/>
              </a:ext>
            </a:extLst>
          </p:cNvPr>
          <p:cNvCxnSpPr>
            <a:cxnSpLocks/>
          </p:cNvCxnSpPr>
          <p:nvPr/>
        </p:nvCxnSpPr>
        <p:spPr>
          <a:xfrm flipV="1">
            <a:off x="8424803" y="2207213"/>
            <a:ext cx="0" cy="25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C960B3F-49E0-D86B-AF70-03C4B6297083}"/>
              </a:ext>
            </a:extLst>
          </p:cNvPr>
          <p:cNvCxnSpPr>
            <a:cxnSpLocks/>
          </p:cNvCxnSpPr>
          <p:nvPr/>
        </p:nvCxnSpPr>
        <p:spPr>
          <a:xfrm flipV="1">
            <a:off x="8424803" y="1388102"/>
            <a:ext cx="0" cy="256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1E9C795-3140-1757-272C-26B068D4D4EB}"/>
              </a:ext>
            </a:extLst>
          </p:cNvPr>
          <p:cNvSpPr txBox="1"/>
          <p:nvPr/>
        </p:nvSpPr>
        <p:spPr>
          <a:xfrm>
            <a:off x="7708619" y="1010690"/>
            <a:ext cx="437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Denoises .TIFF files using </a:t>
            </a:r>
            <a:r>
              <a:rPr lang="en-GB" dirty="0" err="1"/>
              <a:t>IMC_Denoise</a:t>
            </a:r>
            <a:endParaRPr lang="en-GB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26814C-5A7E-5BFB-0A07-EE6FDB8258C4}"/>
              </a:ext>
            </a:extLst>
          </p:cNvPr>
          <p:cNvSpPr txBox="1"/>
          <p:nvPr/>
        </p:nvSpPr>
        <p:spPr>
          <a:xfrm>
            <a:off x="3861283" y="111435"/>
            <a:ext cx="5550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Options configured by a single text-editable file, shared by all stages of the pipeline (</a:t>
            </a:r>
            <a:r>
              <a:rPr lang="en-GB" b="1" dirty="0" err="1"/>
              <a:t>config.yaml</a:t>
            </a:r>
            <a:r>
              <a:rPr lang="en-GB" dirty="0"/>
              <a:t>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B267E-6178-0EDF-C353-85F31E6214BD}"/>
              </a:ext>
            </a:extLst>
          </p:cNvPr>
          <p:cNvCxnSpPr>
            <a:cxnSpLocks/>
            <a:stCxn id="39" idx="1"/>
          </p:cNvCxnSpPr>
          <p:nvPr/>
        </p:nvCxnSpPr>
        <p:spPr>
          <a:xfrm flipH="1" flipV="1">
            <a:off x="6812350" y="828337"/>
            <a:ext cx="864944" cy="10663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F3AF4E5-674A-5794-F3A8-6C94524E068D}"/>
              </a:ext>
            </a:extLst>
          </p:cNvPr>
          <p:cNvCxnSpPr>
            <a:cxnSpLocks/>
          </p:cNvCxnSpPr>
          <p:nvPr/>
        </p:nvCxnSpPr>
        <p:spPr>
          <a:xfrm flipH="1" flipV="1">
            <a:off x="1601972" y="2948003"/>
            <a:ext cx="547970" cy="4837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B1D4BFA-109C-907C-A390-6AED743586A2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4365851" y="2773989"/>
            <a:ext cx="3311443" cy="513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CEFB6ED-00A7-D301-5989-0AC4EFED4A42}"/>
              </a:ext>
            </a:extLst>
          </p:cNvPr>
          <p:cNvSpPr txBox="1"/>
          <p:nvPr/>
        </p:nvSpPr>
        <p:spPr>
          <a:xfrm>
            <a:off x="5795305" y="3407846"/>
            <a:ext cx="5550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pipeline stages can be queued as required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545F60D-2418-C908-547D-E8180EE246C9}"/>
              </a:ext>
            </a:extLst>
          </p:cNvPr>
          <p:cNvCxnSpPr>
            <a:cxnSpLocks/>
          </p:cNvCxnSpPr>
          <p:nvPr/>
        </p:nvCxnSpPr>
        <p:spPr>
          <a:xfrm>
            <a:off x="4874818" y="3592512"/>
            <a:ext cx="11943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1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187F90-6CAE-B080-04A4-1C002BBE7716}"/>
              </a:ext>
            </a:extLst>
          </p:cNvPr>
          <p:cNvSpPr txBox="1"/>
          <p:nvPr/>
        </p:nvSpPr>
        <p:spPr>
          <a:xfrm>
            <a:off x="215415" y="699974"/>
            <a:ext cx="1692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Login to HPC (e.g. CSF3)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2BFD9-B2EC-6BD0-ED6A-8AF8996663ED}"/>
              </a:ext>
            </a:extLst>
          </p:cNvPr>
          <p:cNvSpPr txBox="1"/>
          <p:nvPr/>
        </p:nvSpPr>
        <p:spPr>
          <a:xfrm>
            <a:off x="6876584" y="699974"/>
            <a:ext cx="2771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2-command pipeline installation: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7183F-6A97-E2E2-FF7A-ECD239D3AACC}"/>
              </a:ext>
            </a:extLst>
          </p:cNvPr>
          <p:cNvSpPr txBox="1"/>
          <p:nvPr/>
        </p:nvSpPr>
        <p:spPr>
          <a:xfrm>
            <a:off x="9448871" y="699974"/>
            <a:ext cx="1797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Make install</a:t>
            </a:r>
          </a:p>
          <a:p>
            <a:r>
              <a:rPr lang="en-GB" b="1" i="1" dirty="0"/>
              <a:t>Make </a:t>
            </a:r>
            <a:r>
              <a:rPr lang="en-GB" b="1" i="1" dirty="0" err="1"/>
              <a:t>envs</a:t>
            </a:r>
            <a:endParaRPr lang="en-GB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F2C0F-720D-3284-B2CC-D364D0C2CA32}"/>
              </a:ext>
            </a:extLst>
          </p:cNvPr>
          <p:cNvSpPr txBox="1"/>
          <p:nvPr/>
        </p:nvSpPr>
        <p:spPr>
          <a:xfrm>
            <a:off x="232565" y="218274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Create a location for analyses (e.g. in </a:t>
            </a:r>
            <a:r>
              <a:rPr lang="en-GB" b="1" dirty="0"/>
              <a:t>/scratch/</a:t>
            </a:r>
            <a:r>
              <a:rPr lang="en-GB" dirty="0"/>
              <a:t> folder)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9B144-9C85-4BBB-5E38-583E3F2D35AD}"/>
              </a:ext>
            </a:extLst>
          </p:cNvPr>
          <p:cNvSpPr txBox="1"/>
          <p:nvPr/>
        </p:nvSpPr>
        <p:spPr>
          <a:xfrm>
            <a:off x="5259327" y="2280261"/>
            <a:ext cx="197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Run analyses with 1 command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FE489B-8FDC-E71A-C8E0-28A9C1923B16}"/>
              </a:ext>
            </a:extLst>
          </p:cNvPr>
          <p:cNvSpPr txBox="1"/>
          <p:nvPr/>
        </p:nvSpPr>
        <p:spPr>
          <a:xfrm>
            <a:off x="2222890" y="699974"/>
            <a:ext cx="1949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Install Anaconda (or </a:t>
            </a:r>
            <a:r>
              <a:rPr lang="en-GB" dirty="0" err="1"/>
              <a:t>Miniconda</a:t>
            </a:r>
            <a:r>
              <a:rPr lang="en-GB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C9D3B-4690-CB3E-A513-2B11385520A4}"/>
              </a:ext>
            </a:extLst>
          </p:cNvPr>
          <p:cNvSpPr txBox="1"/>
          <p:nvPr/>
        </p:nvSpPr>
        <p:spPr>
          <a:xfrm>
            <a:off x="4549092" y="69997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Clone (download) this repo into HPC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F5ED37-A297-F9CB-F56F-08DEF868E45F}"/>
              </a:ext>
            </a:extLst>
          </p:cNvPr>
          <p:cNvCxnSpPr>
            <a:cxnSpLocks/>
          </p:cNvCxnSpPr>
          <p:nvPr/>
        </p:nvCxnSpPr>
        <p:spPr>
          <a:xfrm>
            <a:off x="1907580" y="1023139"/>
            <a:ext cx="3652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5E94FA-7DDC-D13F-28E3-ED4CDFC4C65D}"/>
              </a:ext>
            </a:extLst>
          </p:cNvPr>
          <p:cNvCxnSpPr>
            <a:cxnSpLocks/>
          </p:cNvCxnSpPr>
          <p:nvPr/>
        </p:nvCxnSpPr>
        <p:spPr>
          <a:xfrm>
            <a:off x="4172559" y="1023139"/>
            <a:ext cx="3652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1D7BFA-6995-8DD4-9F5A-22A990534D98}"/>
              </a:ext>
            </a:extLst>
          </p:cNvPr>
          <p:cNvCxnSpPr>
            <a:cxnSpLocks/>
          </p:cNvCxnSpPr>
          <p:nvPr/>
        </p:nvCxnSpPr>
        <p:spPr>
          <a:xfrm>
            <a:off x="6693943" y="1023139"/>
            <a:ext cx="3652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467685-E45A-41F0-E2CE-5A73D1732C3F}"/>
              </a:ext>
            </a:extLst>
          </p:cNvPr>
          <p:cNvSpPr txBox="1"/>
          <p:nvPr/>
        </p:nvSpPr>
        <p:spPr>
          <a:xfrm>
            <a:off x="377130" y="176754"/>
            <a:ext cx="397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Overview of HPC setup…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B224AE-191E-11C2-DDC8-031222B6824F}"/>
              </a:ext>
            </a:extLst>
          </p:cNvPr>
          <p:cNvSpPr txBox="1"/>
          <p:nvPr/>
        </p:nvSpPr>
        <p:spPr>
          <a:xfrm>
            <a:off x="377130" y="1633720"/>
            <a:ext cx="3978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Running the pipeline...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D7AA70-E57F-021F-8F4A-CE07B4DFFCD7}"/>
              </a:ext>
            </a:extLst>
          </p:cNvPr>
          <p:cNvSpPr txBox="1"/>
          <p:nvPr/>
        </p:nvSpPr>
        <p:spPr>
          <a:xfrm>
            <a:off x="2718261" y="2182745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Upload MCD files</a:t>
            </a:r>
          </a:p>
          <a:p>
            <a:pPr algn="ctr"/>
            <a:r>
              <a:rPr lang="en-GB" dirty="0"/>
              <a:t>(</a:t>
            </a:r>
            <a:r>
              <a:rPr lang="en-GB" b="1" dirty="0" err="1"/>
              <a:t>MCD_files</a:t>
            </a:r>
            <a:r>
              <a:rPr lang="en-GB" b="1" dirty="0"/>
              <a:t>/ </a:t>
            </a:r>
            <a:r>
              <a:rPr lang="en-GB" dirty="0"/>
              <a:t>by default)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D8ED0C-085F-8500-17D8-51218011CD2F}"/>
              </a:ext>
            </a:extLst>
          </p:cNvPr>
          <p:cNvCxnSpPr>
            <a:cxnSpLocks/>
          </p:cNvCxnSpPr>
          <p:nvPr/>
        </p:nvCxnSpPr>
        <p:spPr>
          <a:xfrm>
            <a:off x="2447573" y="2644410"/>
            <a:ext cx="3652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06EA87-CAF2-A015-23F3-AFF1FCFE759A}"/>
              </a:ext>
            </a:extLst>
          </p:cNvPr>
          <p:cNvCxnSpPr>
            <a:cxnSpLocks/>
          </p:cNvCxnSpPr>
          <p:nvPr/>
        </p:nvCxnSpPr>
        <p:spPr>
          <a:xfrm>
            <a:off x="4851861" y="2603427"/>
            <a:ext cx="36528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15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377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Haley</dc:creator>
  <cp:lastModifiedBy>Michael Haley</cp:lastModifiedBy>
  <cp:revision>2</cp:revision>
  <dcterms:created xsi:type="dcterms:W3CDTF">2026-01-15T15:46:47Z</dcterms:created>
  <dcterms:modified xsi:type="dcterms:W3CDTF">2026-01-15T17:26:37Z</dcterms:modified>
</cp:coreProperties>
</file>